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nca Coder" charset="1" panose="020B0509020502020204"/>
      <p:regular r:id="rId19"/>
    </p:embeddedFont>
    <p:embeddedFont>
      <p:font typeface="Anca Coder Bold" charset="1" panose="020B08090205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6995964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cr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eate database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 biblioteca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9446" y="4810442"/>
            <a:ext cx="1476910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Cria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o </a:t>
            </a: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banco de dados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a partir de uma conexão no Dbeaver.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6736854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cr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eate table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leitor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(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id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serial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primary key,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nome </a:t>
            </a:r>
            <a:r>
              <a:rPr lang="en-US" sz="3399">
                <a:solidFill>
                  <a:srgbClr val="1800AD"/>
                </a:solidFill>
                <a:latin typeface="Anca Coder"/>
                <a:ea typeface="Anca Coder"/>
                <a:cs typeface="Anca Coder"/>
                <a:sym typeface="Anca Coder"/>
              </a:rPr>
              <a:t>varchar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(</a:t>
            </a:r>
            <a:r>
              <a:rPr lang="en-US" sz="3399">
                <a:solidFill>
                  <a:srgbClr val="5170FF"/>
                </a:solidFill>
                <a:latin typeface="Anca Coder"/>
                <a:ea typeface="Anca Coder"/>
                <a:cs typeface="Anca Coder"/>
                <a:sym typeface="Anca Coder"/>
              </a:rPr>
              <a:t>80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)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not null,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email </a:t>
            </a:r>
            <a:r>
              <a:rPr lang="en-US" sz="3399">
                <a:solidFill>
                  <a:srgbClr val="1800AD"/>
                </a:solidFill>
                <a:latin typeface="Anca Coder"/>
                <a:ea typeface="Anca Coder"/>
                <a:cs typeface="Anca Coder"/>
                <a:sym typeface="Anca Coder"/>
              </a:rPr>
              <a:t>varchar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(</a:t>
            </a:r>
            <a:r>
              <a:rPr lang="en-US" sz="3399">
                <a:solidFill>
                  <a:srgbClr val="5170FF"/>
                </a:solidFill>
                <a:latin typeface="Anca Coder"/>
                <a:ea typeface="Anca Coder"/>
                <a:cs typeface="Anca Coder"/>
                <a:sym typeface="Anca Coder"/>
              </a:rPr>
              <a:t>120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)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23347" y="4810442"/>
            <a:ext cx="544130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Cria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 </a:t>
            </a: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tabela 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leitor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321459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alter table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leitor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add column 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telefone </a:t>
            </a:r>
            <a:r>
              <a:rPr lang="en-US" sz="3399">
                <a:solidFill>
                  <a:srgbClr val="1800AD"/>
                </a:solidFill>
                <a:latin typeface="Anca Coder"/>
                <a:ea typeface="Anca Coder"/>
                <a:cs typeface="Anca Coder"/>
                <a:sym typeface="Anca Coder"/>
              </a:rPr>
              <a:t>varchar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(</a:t>
            </a:r>
            <a:r>
              <a:rPr lang="en-US" sz="3399">
                <a:solidFill>
                  <a:srgbClr val="5170FF"/>
                </a:solidFill>
                <a:latin typeface="Anca Coder"/>
                <a:ea typeface="Anca Coder"/>
                <a:cs typeface="Anca Coder"/>
                <a:sym typeface="Anca Coder"/>
              </a:rPr>
              <a:t>20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)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07221" y="4810442"/>
            <a:ext cx="13473559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Altera uma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tabela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adicionando uma coluna e seu </a:t>
            </a:r>
            <a:r>
              <a:rPr lang="en-US" b="true" sz="3399">
                <a:solidFill>
                  <a:srgbClr val="1800AD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tipo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4769257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alter table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leitor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alter column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titulo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type </a:t>
            </a:r>
            <a:r>
              <a:rPr lang="en-US" sz="3399">
                <a:solidFill>
                  <a:srgbClr val="1800AD"/>
                </a:solidFill>
                <a:latin typeface="Anca Coder"/>
                <a:ea typeface="Anca Coder"/>
                <a:cs typeface="Anca Coder"/>
                <a:sym typeface="Anca Coder"/>
              </a:rPr>
              <a:t>varchar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(</a:t>
            </a:r>
            <a:r>
              <a:rPr lang="en-US" sz="3399">
                <a:solidFill>
                  <a:srgbClr val="5170FF"/>
                </a:solidFill>
                <a:latin typeface="Anca Coder"/>
                <a:ea typeface="Anca Coder"/>
                <a:cs typeface="Anca Coder"/>
                <a:sym typeface="Anca Coder"/>
              </a:rPr>
              <a:t>150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)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41227" y="4810442"/>
            <a:ext cx="15805547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Altera uma </a:t>
            </a:r>
            <a:r>
              <a:rPr lang="en-US" sz="3399" b="true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tabela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, em seguida altera uma coluna pré-existente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dentro dessa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tabela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0623500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alter table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livro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drop column 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observacao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91360" y="4810442"/>
            <a:ext cx="10105281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Altera uma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tabela </a:t>
            </a: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removendo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uma coluna.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2696379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ins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ert into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leitor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(nome, email, telefone)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values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(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'Ana Souza'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,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'ana@email.com'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,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'24999990001'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),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(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'Bruno Lima'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'bruno@email.com'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,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'24999990002'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),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(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'Carla Silva'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'carla@email.com'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,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'24999990003'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)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4030" y="4810442"/>
            <a:ext cx="11659939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Insere </a:t>
            </a:r>
            <a:r>
              <a:rPr lang="en-US" b="true" sz="3399">
                <a:solidFill>
                  <a:srgbClr val="00BF63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dados </a:t>
            </a: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dentro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de colunas em uma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tabela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347370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updat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leitor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set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telefone=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'24988880001'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where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id=</a:t>
            </a:r>
            <a:r>
              <a:rPr lang="en-US" sz="3399">
                <a:solidFill>
                  <a:srgbClr val="5170FF"/>
                </a:solidFill>
                <a:latin typeface="Anca Coder"/>
                <a:ea typeface="Anca Coder"/>
                <a:cs typeface="Anca Coder"/>
                <a:sym typeface="Anca Coder"/>
              </a:rPr>
              <a:t>1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89001" y="4810442"/>
            <a:ext cx="1450999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Atualiza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um </a:t>
            </a:r>
            <a:r>
              <a:rPr lang="en-US" b="true" sz="3399">
                <a:solidFill>
                  <a:srgbClr val="00BF63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dado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pré-inserido com uma ou mais condições.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4510147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d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elete from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emprestimo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where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id_leitor=</a:t>
            </a:r>
            <a:r>
              <a:rPr lang="en-US" sz="3399">
                <a:solidFill>
                  <a:srgbClr val="5170FF"/>
                </a:solidFill>
                <a:latin typeface="Anca Coder"/>
                <a:ea typeface="Anca Coder"/>
                <a:cs typeface="Anca Coder"/>
                <a:sym typeface="Anca Coder"/>
              </a:rPr>
              <a:t>1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and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id_livro=</a:t>
            </a:r>
            <a:r>
              <a:rPr lang="en-US" sz="3399">
                <a:solidFill>
                  <a:srgbClr val="5170FF"/>
                </a:solidFill>
                <a:latin typeface="Anca Coder"/>
                <a:ea typeface="Anca Coder"/>
                <a:cs typeface="Anca Coder"/>
                <a:sym typeface="Anca Coder"/>
              </a:rPr>
              <a:t>3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25440" y="4810442"/>
            <a:ext cx="12437120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Deleta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um </a:t>
            </a:r>
            <a:r>
              <a:rPr lang="en-US" b="true" sz="3399">
                <a:solidFill>
                  <a:srgbClr val="00BF63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dado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através de uma ou mais condição.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8550622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elect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*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from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leitor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where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id&gt;=</a:t>
            </a:r>
            <a:r>
              <a:rPr lang="en-US" sz="3399">
                <a:solidFill>
                  <a:srgbClr val="5170FF"/>
                </a:solidFill>
                <a:latin typeface="Anca Coder"/>
                <a:ea typeface="Anca Coder"/>
                <a:cs typeface="Anca Coder"/>
                <a:sym typeface="Anca Coder"/>
              </a:rPr>
              <a:t>2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66215"/>
            <a:ext cx="12696379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elect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.nome,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.email,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.telefone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from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leitor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79930"/>
            <a:ext cx="1373281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elect </a:t>
            </a:r>
            <a:r>
              <a:rPr lang="en-US" sz="3399">
                <a:solidFill>
                  <a:srgbClr val="1800AD"/>
                </a:solidFill>
                <a:latin typeface="Anca Coder"/>
                <a:ea typeface="Anca Coder"/>
                <a:cs typeface="Anca Coder"/>
                <a:sym typeface="Anca Coder"/>
              </a:rPr>
              <a:t>count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(*)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from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emprestimo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where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status=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'ATIVO'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14105" y="4810442"/>
            <a:ext cx="11659791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Exibe </a:t>
            </a:r>
            <a:r>
              <a:rPr lang="en-US" sz="3399" b="true">
                <a:solidFill>
                  <a:srgbClr val="00BF63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dados 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através de diferentes requisitos.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‘*’ sigifica TUDO.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É possível específicar colunas.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É possível usar funções de </a:t>
            </a:r>
            <a:r>
              <a:rPr lang="en-US" b="true" sz="3399">
                <a:solidFill>
                  <a:srgbClr val="1800AD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agregação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5811959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elect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.nome,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.data_emprestimo,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.status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from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leitor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join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emprestimo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on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.id=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.id_leitor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9521" y="4810442"/>
            <a:ext cx="14768959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Assim como no exemplo anterior, exibe </a:t>
            </a:r>
            <a:r>
              <a:rPr lang="en-US" sz="3399" b="true">
                <a:solidFill>
                  <a:srgbClr val="00BF63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dados 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que atendam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condições específicas. Nesse caso, o computador visualiza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 tabela </a:t>
            </a:r>
            <a:r>
              <a:rPr lang="en-US" sz="3399" b="true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leitor 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 </a:t>
            </a:r>
            <a:r>
              <a:rPr lang="en-US" sz="3399" b="true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empréstimo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, só mostrando as que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possuírem o </a:t>
            </a:r>
            <a:r>
              <a:rPr lang="en-US" b="true" sz="3399">
                <a:solidFill>
                  <a:srgbClr val="00BF63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dado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requerido idêntico.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8550622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elect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*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from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leitor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where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id&gt;=</a:t>
            </a:r>
            <a:r>
              <a:rPr lang="en-US" sz="3399">
                <a:solidFill>
                  <a:srgbClr val="5170FF"/>
                </a:solidFill>
                <a:latin typeface="Anca Coder"/>
                <a:ea typeface="Anca Coder"/>
                <a:cs typeface="Anca Coder"/>
                <a:sym typeface="Anca Coder"/>
              </a:rPr>
              <a:t>2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66215"/>
            <a:ext cx="12696379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elect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.nome,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.email,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.telefone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from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leitor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79930"/>
            <a:ext cx="1373281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elect </a:t>
            </a:r>
            <a:r>
              <a:rPr lang="en-US" sz="3399">
                <a:solidFill>
                  <a:srgbClr val="1800AD"/>
                </a:solidFill>
                <a:latin typeface="Anca Coder"/>
                <a:ea typeface="Anca Coder"/>
                <a:cs typeface="Anca Coder"/>
                <a:sym typeface="Anca Coder"/>
              </a:rPr>
              <a:t>count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(*)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from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emprestimo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where 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status=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'ATIVO'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7666" y="4810442"/>
            <a:ext cx="13732669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Seleciona 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todos os atributos da tabela </a:t>
            </a:r>
            <a:r>
              <a:rPr lang="en-US" sz="3399" b="true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leitor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onde o id for igual ou maior que </a:t>
            </a:r>
            <a:r>
              <a:rPr lang="en-US" sz="3399" b="true">
                <a:solidFill>
                  <a:srgbClr val="5170FF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2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.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Seleciona 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 nome, email e telefone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da tabela </a:t>
            </a:r>
            <a:r>
              <a:rPr lang="en-US" sz="3399" b="true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leitor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, ao qual recebe um “apelido” </a:t>
            </a:r>
            <a:r>
              <a:rPr lang="en-US" sz="3399" b="true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Seleciona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 total de empréstimos com o status </a:t>
            </a:r>
            <a:r>
              <a:rPr lang="en-US" b="true" sz="3399">
                <a:solidFill>
                  <a:srgbClr val="00BF63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“ATIVO”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5811959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elect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.nome,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1800AD"/>
                </a:solidFill>
                <a:latin typeface="Anca Coder"/>
                <a:ea typeface="Anca Coder"/>
                <a:cs typeface="Anca Coder"/>
                <a:sym typeface="Anca Coder"/>
              </a:rPr>
              <a:t>count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(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)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from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leitor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join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emprestimo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on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.id=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.id_leitor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group by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.nome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order by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.count 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desc;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9966" y="4810442"/>
            <a:ext cx="15028069" cy="359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Utilizando diferentes comandos, pode exibir dados de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uma maneira específica. Nesse caso, o computador visualiza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dados em </a:t>
            </a:r>
            <a:r>
              <a:rPr lang="en-US" sz="3399" b="true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leitor 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 </a:t>
            </a:r>
            <a:r>
              <a:rPr lang="en-US" sz="3399" b="true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empréstimo 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que atendam o pré-requisito,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conta a quantidade de empréstimos que batem e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exibe agrupado por nome e </a:t>
            </a:r>
            <a:r>
              <a:rPr lang="en-US" sz="3399" b="true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ordenado 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por </a:t>
            </a:r>
            <a:r>
              <a:rPr lang="en-US" sz="3399" b="true">
                <a:solidFill>
                  <a:srgbClr val="1800AD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quantidade </a:t>
            </a:r>
            <a:r>
              <a:rPr lang="en-US" sz="3399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em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ordem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</a:t>
            </a: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decrescente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5811959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elect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.nome,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li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.titulo,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li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.autor,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.data_emprestimo,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.status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from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leitor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join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emprestimo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on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.id=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.id_leitor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join </a:t>
            </a:r>
            <a:r>
              <a:rPr lang="en-US" sz="3399">
                <a:solidFill>
                  <a:srgbClr val="545454"/>
                </a:solidFill>
                <a:latin typeface="Anca Coder"/>
                <a:ea typeface="Anca Coder"/>
                <a:cs typeface="Anca Coder"/>
                <a:sym typeface="Anca Coder"/>
              </a:rPr>
              <a:t>livro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li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on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.id_livro=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.id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where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e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.status=</a:t>
            </a:r>
            <a:r>
              <a:rPr lang="en-US" sz="3399">
                <a:solidFill>
                  <a:srgbClr val="00BF63"/>
                </a:solidFill>
                <a:latin typeface="Anca Coder"/>
                <a:ea typeface="Anca Coder"/>
                <a:cs typeface="Anca Coder"/>
                <a:sym typeface="Anca Coder"/>
              </a:rPr>
              <a:t>'ATIVO'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order by </a:t>
            </a:r>
            <a:r>
              <a:rPr lang="en-US" sz="3399">
                <a:solidFill>
                  <a:srgbClr val="CB6CE6"/>
                </a:solidFill>
                <a:latin typeface="Anca Coder"/>
                <a:ea typeface="Anca Coder"/>
                <a:cs typeface="Anca Coder"/>
                <a:sym typeface="Anca Coder"/>
              </a:rPr>
              <a:t>l</a:t>
            </a:r>
            <a:r>
              <a:rPr lang="en-US" sz="3399">
                <a:solidFill>
                  <a:srgbClr val="000000"/>
                </a:solidFill>
                <a:latin typeface="Anca Coder"/>
                <a:ea typeface="Anca Coder"/>
                <a:cs typeface="Anca Coder"/>
                <a:sym typeface="Anca Coder"/>
              </a:rPr>
              <a:t>.nome</a:t>
            </a:r>
            <a:r>
              <a:rPr lang="en-US" sz="3399">
                <a:solidFill>
                  <a:srgbClr val="FF3131"/>
                </a:solidFill>
                <a:latin typeface="Anca Coder"/>
                <a:ea typeface="Anca Coder"/>
                <a:cs typeface="Anca Coder"/>
                <a:sym typeface="Anca Coder"/>
              </a:rPr>
              <a:t> asc;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0946" y="4919382"/>
            <a:ext cx="14226107" cy="41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3131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Seleciona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 nome do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leitor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(l)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, titulo do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livro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(li)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, autor do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livro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(li)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, data de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empréstimo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(e)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 status do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empréstimo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(e)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da tabela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leitor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(l)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, em seguida, junta a tabela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empréstimo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(e)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livro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(li)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à tabela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leitor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(l)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onde o status de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empréstimo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(e)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for </a:t>
            </a:r>
            <a:r>
              <a:rPr lang="en-US" b="true" sz="3399">
                <a:solidFill>
                  <a:srgbClr val="00BF63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'ATIVO' 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e ordena de forma crescente pelo nome do </a:t>
            </a:r>
            <a:r>
              <a:rPr lang="en-US" b="true" sz="3399">
                <a:solidFill>
                  <a:srgbClr val="545454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leitor</a:t>
            </a:r>
            <a:r>
              <a:rPr lang="en-US" b="true" sz="3399">
                <a:solidFill>
                  <a:srgbClr val="CB6CE6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(l)</a:t>
            </a:r>
            <a:r>
              <a:rPr lang="en-US" b="true" sz="33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, exibe-os no terminal do sql como uma tabela unificada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DAHU5MOEYqM</dc:identifier>
  <dcterms:modified xsi:type="dcterms:W3CDTF">2011-08-01T06:04:30Z</dcterms:modified>
  <cp:revision>1</cp:revision>
  <dc:title>Explicação Modelagem Reforço - Lucas Gon, Arthur Pimenta, Eduardo Schiffler</dc:title>
</cp:coreProperties>
</file>